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6" r:id="rId17"/>
    <p:sldId id="272" r:id="rId18"/>
    <p:sldId id="273" r:id="rId19"/>
    <p:sldId id="274" r:id="rId20"/>
    <p:sldId id="275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Беляева Ольга Николаевна" initials="БОН" lastIdx="1" clrIdx="0">
    <p:extLst>
      <p:ext uri="{19B8F6BF-5375-455C-9EA6-DF929625EA0E}">
        <p15:presenceInfo xmlns:p15="http://schemas.microsoft.com/office/powerpoint/2012/main" userId="S-1-5-21-2650983024-285666780-1497249542-1672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.belyaeva\Downloads\query_result_2025-06-12T07_47_57.147746Z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.belyaeva\Downloads\query_result_2025-06-12T08_00_49.039913Z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.belyaeva\Downloads\query_result_2025-06-12T08_17_12.443Z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.belyaeva\Downloads\query_result_2025-06-12T08_22_42.692085Z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.belyaeva\Downloads\query_result_2025-06-08T09_20_08.140639Z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.belyaeva\Downloads\query_result_2025-06-12T09_56_55.495411Z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.belyaeva\Downloads\query_result_2025-06-12T10_10_15.940484Z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.belyaeva\Downloads\query_result_2025-06-12T10_55_32.101903Z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.belyaeva\Downloads\query_result_2025-06-12T11_04_21.211053Z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.belyaeva\Downloads\query_result_2025-06-12T11_10_00.641418Z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.belyaeva\Downloads\query_result_2025-06-12T11_14_09.602153Z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.belyaeva\Downloads\query_result_2025-06-12T11_14_09.602153Z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количества регистраций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запроса'!$B$2:$B$10</c:f>
              <c:numCache>
                <c:formatCode>General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257</c:v>
                </c:pt>
                <c:pt idx="3">
                  <c:v>263</c:v>
                </c:pt>
                <c:pt idx="4">
                  <c:v>255</c:v>
                </c:pt>
                <c:pt idx="5">
                  <c:v>255</c:v>
                </c:pt>
                <c:pt idx="6">
                  <c:v>415</c:v>
                </c:pt>
                <c:pt idx="7">
                  <c:v>458</c:v>
                </c:pt>
                <c:pt idx="8">
                  <c:v>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4A-4CA1-9115-A1AA2D55FF0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6291392"/>
        <c:axId val="186288064"/>
      </c:lineChart>
      <c:dateAx>
        <c:axId val="1862913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 регистрации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6288064"/>
        <c:crosses val="autoZero"/>
        <c:auto val="1"/>
        <c:lblOffset val="100"/>
        <c:baseTimeUnit val="months"/>
      </c:dateAx>
      <c:valAx>
        <c:axId val="186288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регисраций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6291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baseline="0">
                <a:effectLst/>
              </a:rPr>
              <a:t>Распределение сессий и их доли по месяцам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Количество сессий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1203</c:v>
                </c:pt>
                <c:pt idx="1">
                  <c:v>2209</c:v>
                </c:pt>
                <c:pt idx="2">
                  <c:v>2233</c:v>
                </c:pt>
                <c:pt idx="3">
                  <c:v>2332</c:v>
                </c:pt>
                <c:pt idx="4">
                  <c:v>1688</c:v>
                </c:pt>
                <c:pt idx="5">
                  <c:v>935</c:v>
                </c:pt>
                <c:pt idx="6">
                  <c:v>2426</c:v>
                </c:pt>
                <c:pt idx="7">
                  <c:v>3383</c:v>
                </c:pt>
                <c:pt idx="8">
                  <c:v>5779</c:v>
                </c:pt>
                <c:pt idx="9">
                  <c:v>4973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84-4D06-B67D-401E35DF7BF0}"/>
            </c:ext>
          </c:extLst>
        </c:ser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Количество сессий больше 5 минут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General</c:formatCode>
                <c:ptCount val="10"/>
                <c:pt idx="0">
                  <c:v>919</c:v>
                </c:pt>
                <c:pt idx="1">
                  <c:v>1707</c:v>
                </c:pt>
                <c:pt idx="2">
                  <c:v>1715</c:v>
                </c:pt>
                <c:pt idx="3">
                  <c:v>1809</c:v>
                </c:pt>
                <c:pt idx="4">
                  <c:v>1253</c:v>
                </c:pt>
                <c:pt idx="5">
                  <c:v>612</c:v>
                </c:pt>
                <c:pt idx="6">
                  <c:v>1775</c:v>
                </c:pt>
                <c:pt idx="7">
                  <c:v>2429</c:v>
                </c:pt>
                <c:pt idx="8">
                  <c:v>3895</c:v>
                </c:pt>
                <c:pt idx="9">
                  <c:v>3243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84-4D06-B67D-401E35DF7BF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51774207"/>
        <c:axId val="1451775871"/>
      </c:lineChart>
      <c:lineChart>
        <c:grouping val="standard"/>
        <c:varyColors val="0"/>
        <c:ser>
          <c:idx val="2"/>
          <c:order val="2"/>
          <c:tx>
            <c:strRef>
              <c:f>'Результат запроса'!$D$1</c:f>
              <c:strCache>
                <c:ptCount val="1"/>
                <c:pt idx="0">
                  <c:v>Доля сессий больше 5 минут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8"/>
              <c:layout>
                <c:manualLayout>
                  <c:x val="-2.2683829322375816E-2"/>
                  <c:y val="4.666287729559468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84-4D06-B67D-401E35DF7BF0}"/>
                </c:ext>
              </c:extLst>
            </c:dLbl>
            <c:dLbl>
              <c:idx val="9"/>
              <c:layout>
                <c:manualLayout>
                  <c:x val="-1.98889669396391E-2"/>
                  <c:y val="2.633790716289823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84-4D06-B67D-401E35DF7BF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запроса'!$D$2:$D$11</c:f>
              <c:numCache>
                <c:formatCode>0.00</c:formatCode>
                <c:ptCount val="10"/>
                <c:pt idx="0">
                  <c:v>0.76392352452202827</c:v>
                </c:pt>
                <c:pt idx="1">
                  <c:v>0.77274784970574917</c:v>
                </c:pt>
                <c:pt idx="2">
                  <c:v>0.76802507836990597</c:v>
                </c:pt>
                <c:pt idx="3">
                  <c:v>0.77572898799313894</c:v>
                </c:pt>
                <c:pt idx="4">
                  <c:v>0.74229857819905209</c:v>
                </c:pt>
                <c:pt idx="5">
                  <c:v>0.65454545454545454</c:v>
                </c:pt>
                <c:pt idx="6">
                  <c:v>0.73165704863973624</c:v>
                </c:pt>
                <c:pt idx="7">
                  <c:v>0.71800177357375106</c:v>
                </c:pt>
                <c:pt idx="8">
                  <c:v>0.67399204014535385</c:v>
                </c:pt>
                <c:pt idx="9">
                  <c:v>0.65212145586165293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84-4D06-B67D-401E35DF7B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51757567"/>
        <c:axId val="1451746335"/>
      </c:lineChart>
      <c:dateAx>
        <c:axId val="14517742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 и 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51775871"/>
        <c:crosses val="autoZero"/>
        <c:auto val="1"/>
        <c:lblOffset val="100"/>
        <c:baseTimeUnit val="months"/>
      </c:dateAx>
      <c:valAx>
        <c:axId val="1451775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сессий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51774207"/>
        <c:crosses val="autoZero"/>
        <c:crossBetween val="between"/>
      </c:valAx>
      <c:valAx>
        <c:axId val="145174633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 сессий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51757567"/>
        <c:crosses val="max"/>
        <c:crossBetween val="between"/>
      </c:valAx>
      <c:dateAx>
        <c:axId val="1451757567"/>
        <c:scaling>
          <c:orientation val="minMax"/>
        </c:scaling>
        <c:delete val="1"/>
        <c:axPos val="b"/>
        <c:numFmt formatCode="[$-419]mmmm\ yyyy;@" sourceLinked="1"/>
        <c:majorTickMark val="out"/>
        <c:minorTickMark val="none"/>
        <c:tickLblPos val="nextTo"/>
        <c:crossAx val="1451746335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средней длительности, минуты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Средняя длительность, минуты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133</c:v>
                </c:pt>
                <c:pt idx="1">
                  <c:v>139</c:v>
                </c:pt>
                <c:pt idx="2">
                  <c:v>136</c:v>
                </c:pt>
                <c:pt idx="3">
                  <c:v>142</c:v>
                </c:pt>
                <c:pt idx="4">
                  <c:v>150</c:v>
                </c:pt>
                <c:pt idx="5">
                  <c:v>163</c:v>
                </c:pt>
                <c:pt idx="6">
                  <c:v>143</c:v>
                </c:pt>
                <c:pt idx="7">
                  <c:v>137</c:v>
                </c:pt>
                <c:pt idx="8">
                  <c:v>332</c:v>
                </c:pt>
                <c:pt idx="9">
                  <c:v>140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28-4C06-8C78-DCBC557AE8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677839920"/>
        <c:axId val="684148112"/>
      </c:lineChart>
      <c:dateAx>
        <c:axId val="6778399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 и 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84148112"/>
        <c:crosses val="autoZero"/>
        <c:auto val="1"/>
        <c:lblOffset val="100"/>
        <c:baseTimeUnit val="months"/>
      </c:dateAx>
      <c:valAx>
        <c:axId val="684148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</a:t>
                </a:r>
                <a:r>
                  <a:rPr lang="ru-RU" baseline="0"/>
                  <a:t> длительность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77839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</a:t>
            </a:r>
            <a:r>
              <a:rPr lang="ru-RU" baseline="0"/>
              <a:t> доли сессий дольше 1 часа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share_long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0.00</c:formatCode>
                <c:ptCount val="10"/>
                <c:pt idx="0">
                  <c:v>0.66811751904243744</c:v>
                </c:pt>
                <c:pt idx="1">
                  <c:v>0.69244288224956063</c:v>
                </c:pt>
                <c:pt idx="2">
                  <c:v>0.69154518950437316</c:v>
                </c:pt>
                <c:pt idx="3">
                  <c:v>0.6843559977888336</c:v>
                </c:pt>
                <c:pt idx="4">
                  <c:v>0.63607342378292098</c:v>
                </c:pt>
                <c:pt idx="5">
                  <c:v>0.56372549019607843</c:v>
                </c:pt>
                <c:pt idx="6">
                  <c:v>0.65014084507042258</c:v>
                </c:pt>
                <c:pt idx="7">
                  <c:v>0.66941128036228903</c:v>
                </c:pt>
                <c:pt idx="8">
                  <c:v>0.6426187419768935</c:v>
                </c:pt>
                <c:pt idx="9">
                  <c:v>0.70027752081406103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1A-4E1A-84A1-5A6D3487001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98990592"/>
        <c:axId val="2099003488"/>
      </c:lineChart>
      <c:catAx>
        <c:axId val="20989905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 и 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99003488"/>
        <c:crosses val="autoZero"/>
        <c:auto val="0"/>
        <c:lblAlgn val="ctr"/>
        <c:lblOffset val="100"/>
        <c:noMultiLvlLbl val="0"/>
      </c:catAx>
      <c:valAx>
        <c:axId val="2099003488"/>
        <c:scaling>
          <c:orientation val="minMax"/>
          <c:min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98990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Распределение</a:t>
            </a:r>
            <a:r>
              <a:rPr lang="ru-RU" baseline="0"/>
              <a:t> проблемных записей, %</a:t>
            </a:r>
            <a:endParaRPr lang="ru-RU"/>
          </a:p>
        </c:rich>
      </c:tx>
      <c:layout>
        <c:manualLayout>
          <c:xMode val="edge"/>
          <c:yMode val="edge"/>
          <c:x val="0.19434526266277713"/>
          <c:y val="3.69469768838972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826-4317-84A7-EA9C5EE3C12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826-4317-84A7-EA9C5EE3C127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'Результат запроса'!$A$1:$B$1</c:f>
              <c:strCache>
                <c:ptCount val="2"/>
                <c:pt idx="0">
                  <c:v>Доля iOS</c:v>
                </c:pt>
                <c:pt idx="1">
                  <c:v>Доля Android</c:v>
                </c:pt>
              </c:strCache>
            </c:strRef>
          </c:cat>
          <c:val>
            <c:numRef>
              <c:f>'Результат запроса'!$A$2:$B$2</c:f>
              <c:numCache>
                <c:formatCode>0.00</c:formatCode>
                <c:ptCount val="2"/>
                <c:pt idx="0">
                  <c:v>97.608828939301048</c:v>
                </c:pt>
                <c:pt idx="1">
                  <c:v>2.3911710606989578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26-4317-84A7-EA9C5EE3C12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>
          <a:lumMod val="50000"/>
        </a:schemeClr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</a:t>
            </a:r>
            <a:r>
              <a:rPr lang="ru-RU" baseline="0"/>
              <a:t> выручки и среднего количества приобретаемых кристаллов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Выручка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General</c:formatCode>
                <c:ptCount val="10"/>
                <c:pt idx="0">
                  <c:v>4930</c:v>
                </c:pt>
                <c:pt idx="1">
                  <c:v>17170</c:v>
                </c:pt>
                <c:pt idx="2">
                  <c:v>12580</c:v>
                </c:pt>
                <c:pt idx="3">
                  <c:v>14280</c:v>
                </c:pt>
                <c:pt idx="4">
                  <c:v>12580</c:v>
                </c:pt>
                <c:pt idx="5">
                  <c:v>11730</c:v>
                </c:pt>
                <c:pt idx="6">
                  <c:v>14300</c:v>
                </c:pt>
                <c:pt idx="7">
                  <c:v>12980</c:v>
                </c:pt>
                <c:pt idx="8">
                  <c:v>37840</c:v>
                </c:pt>
                <c:pt idx="9">
                  <c:v>13200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D3-4BF4-937B-523F4597BED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83390944"/>
        <c:axId val="283382208"/>
      </c:lineChart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Среднее количество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0.00</c:formatCode>
                <c:ptCount val="10"/>
                <c:pt idx="0">
                  <c:v>29</c:v>
                </c:pt>
                <c:pt idx="1">
                  <c:v>31.5625</c:v>
                </c:pt>
                <c:pt idx="2">
                  <c:v>32.173913043478258</c:v>
                </c:pt>
                <c:pt idx="3">
                  <c:v>28</c:v>
                </c:pt>
                <c:pt idx="4">
                  <c:v>29.6</c:v>
                </c:pt>
                <c:pt idx="5">
                  <c:v>30</c:v>
                </c:pt>
                <c:pt idx="6">
                  <c:v>19.117647058823529</c:v>
                </c:pt>
                <c:pt idx="7">
                  <c:v>17.352941176470587</c:v>
                </c:pt>
                <c:pt idx="8">
                  <c:v>22.051282051282051</c:v>
                </c:pt>
                <c:pt idx="9">
                  <c:v>23.076923076923077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DD3-4BF4-937B-523F4597BE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8058400"/>
        <c:axId val="468073792"/>
      </c:lineChart>
      <c:dateAx>
        <c:axId val="2833909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  <a:r>
                  <a:rPr lang="ru-RU" baseline="0"/>
                  <a:t> и год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83382208"/>
        <c:crosses val="autoZero"/>
        <c:auto val="1"/>
        <c:lblOffset val="100"/>
        <c:baseTimeUnit val="months"/>
      </c:dateAx>
      <c:valAx>
        <c:axId val="283382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Выручка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83390944"/>
        <c:crosses val="autoZero"/>
        <c:crossBetween val="between"/>
      </c:valAx>
      <c:valAx>
        <c:axId val="46807379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Среднее количество</a:t>
                </a:r>
                <a:r>
                  <a:rPr lang="ru-RU" baseline="0"/>
                  <a:t> кристаллов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8058400"/>
        <c:crosses val="max"/>
        <c:crossBetween val="between"/>
      </c:valAx>
      <c:dateAx>
        <c:axId val="468058400"/>
        <c:scaling>
          <c:orientation val="minMax"/>
        </c:scaling>
        <c:delete val="1"/>
        <c:axPos val="b"/>
        <c:numFmt formatCode="[$-419]mmmm\ yyyy;@" sourceLinked="1"/>
        <c:majorTickMark val="out"/>
        <c:minorTickMark val="none"/>
        <c:tickLblPos val="nextTo"/>
        <c:crossAx val="468073792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</a:t>
            </a:r>
            <a:r>
              <a:rPr lang="ru-RU" baseline="0"/>
              <a:t> средней выручки на 1 человека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avg_rev_per_month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запроса'!$B$2:$B$10</c:f>
              <c:numCache>
                <c:formatCode>0</c:formatCode>
                <c:ptCount val="9"/>
                <c:pt idx="0">
                  <c:v>118.54647887323942</c:v>
                </c:pt>
                <c:pt idx="1">
                  <c:v>95.038011695906434</c:v>
                </c:pt>
                <c:pt idx="2">
                  <c:v>150.36933797909407</c:v>
                </c:pt>
                <c:pt idx="3">
                  <c:v>154.87356321839081</c:v>
                </c:pt>
                <c:pt idx="4">
                  <c:v>209.65974025974023</c:v>
                </c:pt>
                <c:pt idx="5">
                  <c:v>248.06325301204819</c:v>
                </c:pt>
                <c:pt idx="6">
                  <c:v>340.4199475065617</c:v>
                </c:pt>
                <c:pt idx="7">
                  <c:v>577.60887096774195</c:v>
                </c:pt>
                <c:pt idx="8">
                  <c:v>1087.4320388349515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63-4486-B9FC-DB66B1FC4D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40023872"/>
        <c:axId val="1840023456"/>
      </c:lineChart>
      <c:dateAx>
        <c:axId val="18400238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  <a:r>
                  <a:rPr lang="ru-RU" baseline="0"/>
                  <a:t> и 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40023456"/>
        <c:crosses val="autoZero"/>
        <c:auto val="1"/>
        <c:lblOffset val="100"/>
        <c:baseTimeUnit val="months"/>
      </c:dateAx>
      <c:valAx>
        <c:axId val="1840023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 выручка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40023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Распределение</a:t>
            </a:r>
            <a:r>
              <a:rPr lang="ru-RU" baseline="0"/>
              <a:t> средней длительности сессии по когортам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avg_len_2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'Результат запроса'!$A$2:$A$3</c:f>
              <c:strCache>
                <c:ptCount val="2"/>
                <c:pt idx="0">
                  <c:v>Остальные когорты</c:v>
                </c:pt>
                <c:pt idx="1">
                  <c:v>Ноябрь - декабрь 2022</c:v>
                </c:pt>
              </c:strCache>
            </c:strRef>
          </c:cat>
          <c:val>
            <c:numRef>
              <c:f>'Результат запроса'!$B$2:$B$3</c:f>
              <c:numCache>
                <c:formatCode>General</c:formatCode>
                <c:ptCount val="2"/>
                <c:pt idx="0">
                  <c:v>175</c:v>
                </c:pt>
                <c:pt idx="1">
                  <c:v>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A4-46A0-BA93-E28F86E5E1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32290112"/>
        <c:axId val="332304672"/>
      </c:barChart>
      <c:catAx>
        <c:axId val="3322901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Когорта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32304672"/>
        <c:crosses val="autoZero"/>
        <c:auto val="1"/>
        <c:lblAlgn val="ctr"/>
        <c:lblOffset val="100"/>
        <c:noMultiLvlLbl val="0"/>
      </c:catAx>
      <c:valAx>
        <c:axId val="332304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 длительность сессии,</a:t>
                </a:r>
                <a:r>
                  <a:rPr lang="ru-RU" baseline="0"/>
                  <a:t> минуты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32290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</a:t>
            </a:r>
            <a:r>
              <a:rPr lang="ru-RU" baseline="0"/>
              <a:t> </a:t>
            </a:r>
            <a:r>
              <a:rPr lang="en-US" baseline="0"/>
              <a:t>LMAU</a:t>
            </a:r>
            <a:endParaRPr lang="ru-RU" baseline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cnt_user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77</c:v>
                </c:pt>
                <c:pt idx="1">
                  <c:v>148</c:v>
                </c:pt>
                <c:pt idx="2">
                  <c:v>142</c:v>
                </c:pt>
                <c:pt idx="3">
                  <c:v>133</c:v>
                </c:pt>
                <c:pt idx="4">
                  <c:v>158</c:v>
                </c:pt>
                <c:pt idx="5">
                  <c:v>154</c:v>
                </c:pt>
                <c:pt idx="6">
                  <c:v>213</c:v>
                </c:pt>
                <c:pt idx="7">
                  <c:v>250</c:v>
                </c:pt>
                <c:pt idx="8">
                  <c:v>532</c:v>
                </c:pt>
                <c:pt idx="9">
                  <c:v>341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31-409B-BD6F-68BE3025B9E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04991440"/>
        <c:axId val="1104983536"/>
      </c:lineChart>
      <c:dateAx>
        <c:axId val="11049914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 и 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04983536"/>
        <c:crosses val="autoZero"/>
        <c:auto val="1"/>
        <c:lblOffset val="100"/>
        <c:baseTimeUnit val="months"/>
      </c:dateAx>
      <c:valAx>
        <c:axId val="1104983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</a:t>
                </a:r>
                <a:r>
                  <a:rPr lang="ru-RU" baseline="0"/>
                  <a:t> активных пользователей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04991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ru-RU" sz="1800" b="0" i="0" baseline="0">
                <a:effectLst/>
              </a:rPr>
              <a:t>Динамика </a:t>
            </a:r>
            <a:r>
              <a:rPr lang="en-US" sz="1800" b="0" i="0" baseline="0">
                <a:effectLst/>
              </a:rPr>
              <a:t>LMAU</a:t>
            </a:r>
            <a:endParaRPr lang="ru-RU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cnt_user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30</c:v>
                </c:pt>
                <c:pt idx="1">
                  <c:v>52</c:v>
                </c:pt>
                <c:pt idx="2">
                  <c:v>49</c:v>
                </c:pt>
                <c:pt idx="3">
                  <c:v>61</c:v>
                </c:pt>
                <c:pt idx="4">
                  <c:v>67</c:v>
                </c:pt>
                <c:pt idx="5">
                  <c:v>57</c:v>
                </c:pt>
                <c:pt idx="6">
                  <c:v>78</c:v>
                </c:pt>
                <c:pt idx="7">
                  <c:v>111</c:v>
                </c:pt>
                <c:pt idx="8">
                  <c:v>230</c:v>
                </c:pt>
                <c:pt idx="9">
                  <c:v>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C-4D5D-A3C4-332EF1F8F47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72635440"/>
        <c:axId val="1172639600"/>
      </c:lineChart>
      <c:dateAx>
        <c:axId val="11726354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 и 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2639600"/>
        <c:crosses val="autoZero"/>
        <c:auto val="1"/>
        <c:lblOffset val="100"/>
        <c:baseTimeUnit val="months"/>
      </c:dateAx>
      <c:valAx>
        <c:axId val="1172639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b="1"/>
                  <a:t>Количество</a:t>
                </a:r>
                <a:r>
                  <a:rPr lang="ru-RU" b="1" baseline="0"/>
                  <a:t> активных пользователей</a:t>
                </a:r>
                <a:endParaRPr lang="ru-RU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2635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baseline="0">
                <a:effectLst/>
              </a:rPr>
              <a:t>Динамика </a:t>
            </a:r>
            <a:r>
              <a:rPr lang="en-US" sz="1400" b="0" i="0" u="none" strike="noStrike" baseline="0">
                <a:effectLst/>
              </a:rPr>
              <a:t>LMAU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запроса'!$D$1</c:f>
              <c:strCache>
                <c:ptCount val="1"/>
                <c:pt idx="0">
                  <c:v>crit_invite и crit_1000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запроса'!$D$2:$D$11</c:f>
              <c:numCache>
                <c:formatCode>General</c:formatCode>
                <c:ptCount val="10"/>
                <c:pt idx="0">
                  <c:v>11</c:v>
                </c:pt>
                <c:pt idx="1">
                  <c:v>18</c:v>
                </c:pt>
                <c:pt idx="2">
                  <c:v>17</c:v>
                </c:pt>
                <c:pt idx="3">
                  <c:v>18</c:v>
                </c:pt>
                <c:pt idx="4">
                  <c:v>25</c:v>
                </c:pt>
                <c:pt idx="5">
                  <c:v>26</c:v>
                </c:pt>
                <c:pt idx="6">
                  <c:v>27</c:v>
                </c:pt>
                <c:pt idx="7">
                  <c:v>35</c:v>
                </c:pt>
                <c:pt idx="8">
                  <c:v>76</c:v>
                </c:pt>
                <c:pt idx="9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25-49EF-BBB6-106752FF7D0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90352560"/>
        <c:axId val="790375024"/>
      </c:lineChart>
      <c:dateAx>
        <c:axId val="7903525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 и 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90375024"/>
        <c:crosses val="autoZero"/>
        <c:auto val="1"/>
        <c:lblOffset val="100"/>
        <c:baseTimeUnit val="months"/>
      </c:dateAx>
      <c:valAx>
        <c:axId val="790375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</a:t>
                </a:r>
                <a:r>
                  <a:rPr lang="ru-RU" baseline="0"/>
                  <a:t> пользователей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90352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</a:t>
            </a:r>
            <a:r>
              <a:rPr lang="ru-RU" baseline="0"/>
              <a:t> </a:t>
            </a:r>
            <a:r>
              <a:rPr lang="en-US" baseline="0"/>
              <a:t>LMAU</a:t>
            </a:r>
            <a:r>
              <a:rPr lang="en-US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запроса'!$E$1</c:f>
              <c:strCache>
                <c:ptCount val="1"/>
                <c:pt idx="0">
                  <c:v>crit_invite или crit_1000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запроса'!$E$2:$E$11</c:f>
              <c:numCache>
                <c:formatCode>General</c:formatCode>
                <c:ptCount val="10"/>
                <c:pt idx="0">
                  <c:v>96</c:v>
                </c:pt>
                <c:pt idx="1">
                  <c:v>182</c:v>
                </c:pt>
                <c:pt idx="2">
                  <c:v>174</c:v>
                </c:pt>
                <c:pt idx="3">
                  <c:v>176</c:v>
                </c:pt>
                <c:pt idx="4">
                  <c:v>200</c:v>
                </c:pt>
                <c:pt idx="5">
                  <c:v>185</c:v>
                </c:pt>
                <c:pt idx="6">
                  <c:v>264</c:v>
                </c:pt>
                <c:pt idx="7">
                  <c:v>326</c:v>
                </c:pt>
                <c:pt idx="8">
                  <c:v>686</c:v>
                </c:pt>
                <c:pt idx="9">
                  <c:v>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7B-4B40-87FA-F9316B80F66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90359216"/>
        <c:axId val="790356720"/>
      </c:lineChart>
      <c:dateAx>
        <c:axId val="7903592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 и 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90356720"/>
        <c:crosses val="autoZero"/>
        <c:auto val="1"/>
        <c:lblOffset val="100"/>
        <c:baseTimeUnit val="months"/>
      </c:dateAx>
      <c:valAx>
        <c:axId val="790356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пользователей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90359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47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5472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822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28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664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87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73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18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0254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0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1156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299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5019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604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785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70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F5834-0189-43A2-BEB4-B15DE6380ACA}" type="datetimeFigureOut">
              <a:rPr lang="ru-RU" smtClean="0"/>
              <a:t>12.06.2025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498DECA-A551-455D-A49D-2086AA093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612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57597-B1AC-4945-B88A-FEB9231A1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56" y="1077974"/>
            <a:ext cx="9368901" cy="3485148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F1119"/>
                </a:solidFill>
                <a:latin typeface="StratosSkyeng"/>
              </a:rPr>
              <a:t>Анализ</a:t>
            </a:r>
            <a:r>
              <a:rPr lang="ru-RU" b="0" i="0" dirty="0">
                <a:solidFill>
                  <a:srgbClr val="0F1119"/>
                </a:solidFill>
                <a:effectLst/>
                <a:latin typeface="StratosSkyeng"/>
              </a:rPr>
              <a:t> игры </a:t>
            </a:r>
            <a:r>
              <a:rPr lang="ru-RU" b="0" i="0" dirty="0" err="1">
                <a:solidFill>
                  <a:srgbClr val="0F1119"/>
                </a:solidFill>
                <a:effectLst/>
                <a:latin typeface="StratosSkyeng"/>
              </a:rPr>
              <a:t>Zombie</a:t>
            </a:r>
            <a:r>
              <a:rPr lang="ru-RU" b="0" i="0" dirty="0">
                <a:solidFill>
                  <a:srgbClr val="0F1119"/>
                </a:solidFill>
                <a:effectLst/>
                <a:latin typeface="StratosSkyeng"/>
              </a:rPr>
              <a:t> Revolution, ее популярности и монетизации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747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73BF8-1F49-43B0-98D5-224FBC764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Основные метрики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B88ABC-2094-471B-AD1F-495072578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522" y="1549668"/>
            <a:ext cx="8238571" cy="3913557"/>
          </a:xfrm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 lnSpcReduction="10000"/>
          </a:bodyPr>
          <a:lstStyle/>
          <a:p>
            <a:r>
              <a:rPr lang="ru-RU" sz="1600" dirty="0">
                <a:solidFill>
                  <a:srgbClr val="242D34"/>
                </a:solidFill>
                <a:latin typeface="StratosSkyeng"/>
              </a:rPr>
              <a:t>В</a:t>
            </a:r>
            <a:r>
              <a:rPr lang="ru-RU" sz="1600" b="0" i="0" dirty="0">
                <a:solidFill>
                  <a:srgbClr val="242D34"/>
                </a:solidFill>
                <a:effectLst/>
                <a:latin typeface="StratosSkyeng"/>
              </a:rPr>
              <a:t>сего пользователей – 3 078 </a:t>
            </a:r>
          </a:p>
          <a:p>
            <a:r>
              <a:rPr lang="ru-RU" sz="1600" dirty="0">
                <a:solidFill>
                  <a:srgbClr val="242D34"/>
                </a:solidFill>
                <a:latin typeface="StratosSkyeng"/>
              </a:rPr>
              <a:t>Повторных регистраций нет</a:t>
            </a:r>
          </a:p>
          <a:p>
            <a:r>
              <a:rPr lang="ru-RU" sz="1600" dirty="0">
                <a:solidFill>
                  <a:srgbClr val="242D34"/>
                </a:solidFill>
                <a:latin typeface="StratosSkyeng"/>
              </a:rPr>
              <a:t>Минимальная дата регистрации – 01.07.2022 </a:t>
            </a:r>
          </a:p>
          <a:p>
            <a:r>
              <a:rPr lang="ru-RU" sz="1600" dirty="0">
                <a:solidFill>
                  <a:srgbClr val="242D34"/>
                </a:solidFill>
                <a:latin typeface="StratosSkyeng"/>
              </a:rPr>
              <a:t>Максимальная дата регистрации – 30.03.2023 </a:t>
            </a:r>
          </a:p>
          <a:p>
            <a:r>
              <a:rPr lang="ru-RU" sz="1600" dirty="0">
                <a:solidFill>
                  <a:srgbClr val="242D34"/>
                </a:solidFill>
                <a:latin typeface="StratosSkyeng"/>
              </a:rPr>
              <a:t>Н</a:t>
            </a:r>
            <a:r>
              <a:rPr lang="ru-RU" sz="1600" b="0" i="0" dirty="0">
                <a:solidFill>
                  <a:srgbClr val="242D34"/>
                </a:solidFill>
                <a:effectLst/>
                <a:latin typeface="StratosSkyeng"/>
              </a:rPr>
              <a:t>еопределенного времени регистрации нет</a:t>
            </a:r>
          </a:p>
          <a:p>
            <a:r>
              <a:rPr lang="ru-RU" sz="1600" dirty="0">
                <a:solidFill>
                  <a:srgbClr val="242D34"/>
                </a:solidFill>
                <a:latin typeface="StratosSkyeng"/>
              </a:rPr>
              <a:t>Количество сессий – 27 161</a:t>
            </a:r>
          </a:p>
          <a:p>
            <a:r>
              <a:rPr lang="ru-RU" sz="1600" b="0" i="0" dirty="0">
                <a:solidFill>
                  <a:srgbClr val="242D34"/>
                </a:solidFill>
                <a:effectLst/>
                <a:latin typeface="StratosSkyeng"/>
              </a:rPr>
              <a:t>Количество сессий больше 5 минут – 19 357</a:t>
            </a:r>
          </a:p>
          <a:p>
            <a:r>
              <a:rPr lang="ru-RU" sz="1600" b="0" i="0" dirty="0">
                <a:solidFill>
                  <a:srgbClr val="242D34"/>
                </a:solidFill>
                <a:effectLst/>
                <a:latin typeface="StratosSkyeng"/>
              </a:rPr>
              <a:t>Доля сессий больше 5 минут - 0,71</a:t>
            </a:r>
          </a:p>
          <a:p>
            <a:r>
              <a:rPr lang="ru-RU" sz="1600" dirty="0">
                <a:solidFill>
                  <a:srgbClr val="242D34"/>
                </a:solidFill>
                <a:latin typeface="StratosSkyeng"/>
              </a:rPr>
              <a:t>Количество приглашений в игру – 7 933</a:t>
            </a:r>
          </a:p>
          <a:p>
            <a:r>
              <a:rPr lang="ru-RU" sz="1600" dirty="0">
                <a:solidFill>
                  <a:srgbClr val="242D34"/>
                </a:solidFill>
                <a:latin typeface="StratosSkyeng"/>
              </a:rPr>
              <a:t>К</a:t>
            </a:r>
            <a:r>
              <a:rPr lang="ru-RU" sz="1600" b="0" i="0" dirty="0">
                <a:solidFill>
                  <a:srgbClr val="242D34"/>
                </a:solidFill>
                <a:effectLst/>
                <a:latin typeface="StratosSkyeng"/>
              </a:rPr>
              <a:t>оличество пользователей, которые рассылали приглашения – 2 992</a:t>
            </a:r>
          </a:p>
          <a:p>
            <a:r>
              <a:rPr lang="ru-RU" sz="1600" dirty="0">
                <a:solidFill>
                  <a:srgbClr val="242D34"/>
                </a:solidFill>
                <a:latin typeface="StratosSkyeng"/>
              </a:rPr>
              <a:t>Д</a:t>
            </a:r>
            <a:r>
              <a:rPr lang="ru-RU" sz="1600" b="0" i="0" dirty="0">
                <a:solidFill>
                  <a:srgbClr val="242D34"/>
                </a:solidFill>
                <a:effectLst/>
                <a:latin typeface="StratosSkyeng"/>
              </a:rPr>
              <a:t>оля приглашенных друзей, установивших игру – 0,36</a:t>
            </a:r>
          </a:p>
          <a:p>
            <a:endParaRPr lang="ru-RU" sz="1600" dirty="0">
              <a:solidFill>
                <a:srgbClr val="242D34"/>
              </a:solidFill>
              <a:latin typeface="StratosSkyeng"/>
            </a:endParaRPr>
          </a:p>
          <a:p>
            <a:endParaRPr lang="ru-RU" sz="1600" b="0" i="0" dirty="0">
              <a:solidFill>
                <a:srgbClr val="242D34"/>
              </a:solidFill>
              <a:effectLst/>
              <a:latin typeface="StratosSkyeng"/>
            </a:endParaRPr>
          </a:p>
        </p:txBody>
      </p:sp>
    </p:spTree>
    <p:extLst>
      <p:ext uri="{BB962C8B-B14F-4D97-AF65-F5344CB8AC3E}">
        <p14:creationId xmlns:p14="http://schemas.microsoft.com/office/powerpoint/2010/main" val="141312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BBDBDA-1014-448C-9389-0EEE95BF7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79" y="398761"/>
            <a:ext cx="8596667" cy="566738"/>
          </a:xfrm>
        </p:spPr>
        <p:txBody>
          <a:bodyPr/>
          <a:lstStyle/>
          <a:p>
            <a:pPr algn="ctr"/>
            <a:r>
              <a:rPr lang="ru-RU" dirty="0"/>
              <a:t>Динамика пользовательской базы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46369430-F6E3-4C05-9FD1-F309018A53C4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2162262179"/>
              </p:ext>
            </p:extLst>
          </p:nvPr>
        </p:nvGraphicFramePr>
        <p:xfrm>
          <a:off x="677334" y="1151137"/>
          <a:ext cx="8596312" cy="3844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Текст 4">
            <a:extLst>
              <a:ext uri="{FF2B5EF4-FFF2-40B4-BE49-F238E27FC236}">
                <a16:creationId xmlns:a16="http://schemas.microsoft.com/office/drawing/2014/main" id="{75630A93-6C8B-457B-8DCE-76E718E5A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800" dirty="0"/>
              <a:t>Рост количества пользователей с января по март 2023 г.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800" dirty="0"/>
              <a:t>Наибольшее количество регистраций – март 2023 г.</a:t>
            </a:r>
          </a:p>
        </p:txBody>
      </p:sp>
    </p:spTree>
    <p:extLst>
      <p:ext uri="{BB962C8B-B14F-4D97-AF65-F5344CB8AC3E}">
        <p14:creationId xmlns:p14="http://schemas.microsoft.com/office/powerpoint/2010/main" val="121281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60EE4-3924-44B0-A248-DA8204EEA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Динамика игровых сессий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2898D8-A3C2-4C42-8340-EF6D8DE68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235467"/>
            <a:ext cx="8596668" cy="1320800"/>
          </a:xfrm>
        </p:spPr>
        <p:txBody>
          <a:bodyPr/>
          <a:lstStyle/>
          <a:p>
            <a:r>
              <a:rPr lang="ru-RU" dirty="0"/>
              <a:t>Рост количества сессий с февраля 2023 г.</a:t>
            </a:r>
          </a:p>
          <a:p>
            <a:r>
              <a:rPr lang="ru-RU" dirty="0"/>
              <a:t>Доля сессий дольше 5 минут снизилась в марте и апреле 2023 г.</a:t>
            </a:r>
          </a:p>
          <a:p>
            <a:endParaRPr lang="ru-RU" dirty="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D83AD50C-C796-4104-AF3A-42E7A63CBB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7641895"/>
              </p:ext>
            </p:extLst>
          </p:nvPr>
        </p:nvGraphicFramePr>
        <p:xfrm>
          <a:off x="677333" y="1364454"/>
          <a:ext cx="9088104" cy="3749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8457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64F568-157D-472D-9F0A-18C575882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333"/>
            <a:ext cx="8596668" cy="132556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Динамика средней длительности игровой сессии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43EBF7-2540-4A7B-9520-AE522FD35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332" y="5265019"/>
            <a:ext cx="8596668" cy="1228730"/>
          </a:xfrm>
        </p:spPr>
        <p:txBody>
          <a:bodyPr/>
          <a:lstStyle/>
          <a:p>
            <a:r>
              <a:rPr lang="ru-RU" dirty="0"/>
              <a:t>В марте 2023 г. «всплеск» средней длительности игровой сессии</a:t>
            </a: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049C516E-D283-4143-B330-FF41BEA18F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9699879"/>
              </p:ext>
            </p:extLst>
          </p:nvPr>
        </p:nvGraphicFramePr>
        <p:xfrm>
          <a:off x="907332" y="1671411"/>
          <a:ext cx="8679430" cy="35262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0796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85BFD-A88F-4A8E-ADAD-F2B107F9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StratosSkyeng"/>
              </a:rPr>
              <a:t>Д</a:t>
            </a:r>
            <a:r>
              <a:rPr lang="ru-RU" b="0" i="0" dirty="0">
                <a:effectLst/>
                <a:latin typeface="StratosSkyeng"/>
              </a:rPr>
              <a:t>инамика доли сессий более 1 часа среди всех сессий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D335AC-D868-4800-857E-163C30398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489" y="5072513"/>
            <a:ext cx="8596668" cy="1016975"/>
          </a:xfrm>
        </p:spPr>
        <p:txBody>
          <a:bodyPr/>
          <a:lstStyle/>
          <a:p>
            <a:r>
              <a:rPr lang="ru-RU" dirty="0"/>
              <a:t>Падение в декабре 2022г .</a:t>
            </a:r>
          </a:p>
          <a:p>
            <a:r>
              <a:rPr lang="ru-RU" dirty="0"/>
              <a:t>Увеличение до 70% в апреле 2023 г.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CFE784FF-7F29-4B3D-B33A-18A5AEF7E7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7618659"/>
              </p:ext>
            </p:extLst>
          </p:nvPr>
        </p:nvGraphicFramePr>
        <p:xfrm>
          <a:off x="548489" y="1690712"/>
          <a:ext cx="8865018" cy="3236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39390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0B1E11-FB26-4749-B5D9-0FA4168F5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маркетинговой акции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9DF652-A9F4-405A-B1D8-2AEF5E1CC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212" y="5271730"/>
            <a:ext cx="8596668" cy="1504455"/>
          </a:xfrm>
        </p:spPr>
        <p:txBody>
          <a:bodyPr/>
          <a:lstStyle/>
          <a:p>
            <a:r>
              <a:rPr lang="ru-RU" dirty="0"/>
              <a:t>Рост активных пользователей в первые 3 недели марта 2023 г.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5EEC7D-FF0A-4966-9557-7B0990101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270000"/>
            <a:ext cx="9111559" cy="4001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4869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94BF02-6E45-44A3-91B4-7AF3ABAC8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</a:t>
            </a:r>
            <a:r>
              <a:rPr lang="en-US" dirty="0"/>
              <a:t>Sticky Factor Weekly, Sticky Factor Monthly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B0B6CB-8BEF-4CE4-A3F9-C65561665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321166"/>
            <a:ext cx="7471077" cy="927234"/>
          </a:xfrm>
        </p:spPr>
        <p:txBody>
          <a:bodyPr>
            <a:normAutofit/>
          </a:bodyPr>
          <a:lstStyle/>
          <a:p>
            <a:r>
              <a:rPr lang="ru-RU" dirty="0"/>
              <a:t>В марте 2023 г. снизились коэффициенты </a:t>
            </a:r>
            <a:r>
              <a:rPr lang="en-US" dirty="0"/>
              <a:t>Sticky Factor Weekly, Sticky Factor Monthly</a:t>
            </a:r>
            <a:r>
              <a:rPr lang="ru-RU" dirty="0"/>
              <a:t> из-за большего количества регистраций новых пользователей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4CB26BE-8A28-40BA-9785-38028136C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84" y="1776381"/>
            <a:ext cx="9230628" cy="330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315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49218A-76C8-47A9-A5C1-25D1F068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253" y="356136"/>
            <a:ext cx="10953550" cy="1386036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Пользователи, которые получат бонусные кристаллы и золотые монеты 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C11717E-1DF3-4F46-AED7-BC9F0B944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402166"/>
              </p:ext>
            </p:extLst>
          </p:nvPr>
        </p:nvGraphicFramePr>
        <p:xfrm>
          <a:off x="1690938" y="1825946"/>
          <a:ext cx="5970771" cy="46759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6450">
                  <a:extLst>
                    <a:ext uri="{9D8B030D-6E8A-4147-A177-3AD203B41FA5}">
                      <a16:colId xmlns:a16="http://schemas.microsoft.com/office/drawing/2014/main" val="1111409804"/>
                    </a:ext>
                  </a:extLst>
                </a:gridCol>
                <a:gridCol w="3674321">
                  <a:extLst>
                    <a:ext uri="{9D8B030D-6E8A-4147-A177-3AD203B41FA5}">
                      <a16:colId xmlns:a16="http://schemas.microsoft.com/office/drawing/2014/main" val="1359330557"/>
                    </a:ext>
                  </a:extLst>
                </a:gridCol>
              </a:tblGrid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ID </a:t>
                      </a:r>
                      <a:r>
                        <a:rPr lang="ru-RU" sz="900" u="none" strike="noStrike">
                          <a:effectLst/>
                        </a:rPr>
                        <a:t>пользователя</a:t>
                      </a:r>
                      <a:endParaRPr lang="ru-RU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Длительность сессий, часы</a:t>
                      </a:r>
                      <a:endParaRPr lang="ru-RU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869853354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2902744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162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1374644485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2903516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140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969487307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2901980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130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883847794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2901943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130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3254530720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2902753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127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303407686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2903006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121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659005849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2901218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119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312788806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2901168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118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1916450888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2903361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118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3932233970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2902442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113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502845579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2901948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113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1515326591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2902846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112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2242739757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2901648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111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1713722505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2902723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104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12040350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2901672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102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1859266122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2901519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96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2672012640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2903986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95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1801133416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2903106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92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3519822584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2902358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90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2671288417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2901282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87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4009137363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2901611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84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2103389982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2903797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84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1060927805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2903735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83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2239233798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2903053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82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1402752914"/>
                  </a:ext>
                </a:extLst>
              </a:tr>
              <a:tr h="1798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effectLst/>
                        </a:rPr>
                        <a:t>2902281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effectLst/>
                        </a:rPr>
                        <a:t>81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64" marR="7464" marT="7464" marB="0" anchor="b"/>
                </a:tc>
                <a:extLst>
                  <a:ext uri="{0D108BD9-81ED-4DB2-BD59-A6C34878D82A}">
                    <a16:rowId xmlns:a16="http://schemas.microsoft.com/office/drawing/2014/main" val="3291087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513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137D06-DD02-4C22-BB07-CFA02DCD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проблемных записей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D13C6B-A5EC-4F21-BE92-D3E9E1F4D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8189" y="1419472"/>
            <a:ext cx="6334957" cy="2009528"/>
          </a:xfrm>
        </p:spPr>
        <p:txBody>
          <a:bodyPr>
            <a:normAutofit/>
          </a:bodyPr>
          <a:lstStyle/>
          <a:p>
            <a:r>
              <a:rPr lang="ru-RU" sz="1600" dirty="0"/>
              <a:t>Количество сессий, у которых отсутствует время окончания – 3 262</a:t>
            </a:r>
          </a:p>
          <a:p>
            <a:r>
              <a:rPr lang="ru-RU" sz="1600" dirty="0"/>
              <a:t>Доля сессий, у которых отсутствует время окончания – 0,12</a:t>
            </a:r>
          </a:p>
          <a:p>
            <a:r>
              <a:rPr lang="ru-RU" sz="1600" dirty="0"/>
              <a:t>Доля проблемных записей для </a:t>
            </a:r>
            <a:r>
              <a:rPr lang="en-US" sz="1600" dirty="0"/>
              <a:t>iOS – 0,19</a:t>
            </a:r>
          </a:p>
          <a:p>
            <a:r>
              <a:rPr lang="ru-RU" sz="1600" dirty="0"/>
              <a:t>Доля проблемных записей для</a:t>
            </a:r>
            <a:r>
              <a:rPr lang="en-US" sz="1600" dirty="0"/>
              <a:t> </a:t>
            </a:r>
            <a:r>
              <a:rPr lang="en-US" sz="1600" b="0" i="1" dirty="0">
                <a:solidFill>
                  <a:srgbClr val="0F1119"/>
                </a:solidFill>
                <a:effectLst/>
              </a:rPr>
              <a:t>Android – 0,0075</a:t>
            </a:r>
          </a:p>
          <a:p>
            <a:endParaRPr lang="en-US" sz="1600" dirty="0"/>
          </a:p>
          <a:p>
            <a:pPr marL="0" indent="0">
              <a:buNone/>
            </a:pPr>
            <a:endParaRPr lang="ru-RU" sz="1600" dirty="0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4F54BF53-DD3D-46DB-ADA3-599A2DCB37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466533"/>
              </p:ext>
            </p:extLst>
          </p:nvPr>
        </p:nvGraphicFramePr>
        <p:xfrm>
          <a:off x="2560467" y="3506681"/>
          <a:ext cx="5136472" cy="2902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88370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47EBF0-1B0E-4237-9853-A4AC5369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00" y="227128"/>
            <a:ext cx="8813175" cy="1278466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Динамика клиентских выплат по месяцам по типам продукта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B311328-932E-4CB5-B74D-1F7171F7E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203" t="61300" r="52140" b="8285"/>
          <a:stretch/>
        </p:blipFill>
        <p:spPr>
          <a:xfrm>
            <a:off x="312880" y="1657951"/>
            <a:ext cx="9297367" cy="2057401"/>
          </a:xfrm>
          <a:ln>
            <a:noFill/>
          </a:ln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7EC2A4A6-398B-46ED-A2DC-220749324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2879" y="4268984"/>
            <a:ext cx="7984098" cy="1005659"/>
          </a:xfrm>
        </p:spPr>
        <p:txBody>
          <a:bodyPr>
            <a:normAutofit/>
          </a:bodyPr>
          <a:lstStyle/>
          <a:p>
            <a:r>
              <a:rPr lang="ru-RU" sz="1800" dirty="0"/>
              <a:t>Общая выручка за март 2023 г. выросла за счет продажи валюты </a:t>
            </a:r>
          </a:p>
        </p:txBody>
      </p:sp>
    </p:spTree>
    <p:extLst>
      <p:ext uri="{BB962C8B-B14F-4D97-AF65-F5344CB8AC3E}">
        <p14:creationId xmlns:p14="http://schemas.microsoft.com/office/powerpoint/2010/main" val="2393692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756FA-9E38-4C2C-A3A7-5A0CEFE9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068025" cy="2156693"/>
          </a:xfrm>
        </p:spPr>
        <p:txBody>
          <a:bodyPr>
            <a:noAutofit/>
          </a:bodyPr>
          <a:lstStyle/>
          <a:p>
            <a:pPr algn="ctr"/>
            <a:r>
              <a:rPr lang="ru-RU" sz="4400" dirty="0">
                <a:latin typeface="StratosSkyeng"/>
              </a:rPr>
              <a:t>Д</a:t>
            </a:r>
            <a:r>
              <a:rPr lang="ru-RU" sz="4400" b="0" i="0" dirty="0">
                <a:effectLst/>
                <a:latin typeface="StratosSkyeng"/>
              </a:rPr>
              <a:t>инамика выручки и среднего количества приобретаемых кристаллов на одну покупку</a:t>
            </a:r>
            <a:endParaRPr lang="ru-RU" sz="44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2DC212-B8A1-4E97-B65F-AD7C6CF1C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131" y="5515275"/>
            <a:ext cx="9057880" cy="1180604"/>
          </a:xfrm>
        </p:spPr>
        <p:txBody>
          <a:bodyPr>
            <a:normAutofit fontScale="92500"/>
          </a:bodyPr>
          <a:lstStyle/>
          <a:p>
            <a:r>
              <a:rPr lang="ru-RU" dirty="0"/>
              <a:t>С января 2023 г. снизилось среднее количество приобретаемых кристаллов</a:t>
            </a:r>
          </a:p>
          <a:p>
            <a:r>
              <a:rPr lang="ru-RU" dirty="0"/>
              <a:t>Выручка осталась на том же уровне , кроме марта 2023 г.</a:t>
            </a:r>
          </a:p>
          <a:p>
            <a:r>
              <a:rPr lang="ru-RU" dirty="0"/>
              <a:t>В марте 2023 г. выручка выросла в 3 раза, вероятно, за счет новых пользователей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DD4A1F4A-EA88-4149-9034-8C2F3D2FF4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5390930"/>
              </p:ext>
            </p:extLst>
          </p:nvPr>
        </p:nvGraphicFramePr>
        <p:xfrm>
          <a:off x="0" y="2017371"/>
          <a:ext cx="9702265" cy="3096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85793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A52BCB-8A2C-4133-8F90-03526121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4" y="147052"/>
            <a:ext cx="9548261" cy="1571592"/>
          </a:xfrm>
        </p:spPr>
        <p:txBody>
          <a:bodyPr>
            <a:noAutofit/>
          </a:bodyPr>
          <a:lstStyle/>
          <a:p>
            <a:pPr algn="ctr"/>
            <a:r>
              <a:rPr lang="ru-RU" sz="4000" dirty="0"/>
              <a:t>Средняя выручка на одного человека за один месяц для каждой когорты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A121E7-C3BF-4F66-A99E-50900ADB0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830" y="5636221"/>
            <a:ext cx="8976805" cy="1074727"/>
          </a:xfrm>
        </p:spPr>
        <p:txBody>
          <a:bodyPr/>
          <a:lstStyle/>
          <a:p>
            <a:r>
              <a:rPr lang="ru-RU" dirty="0"/>
              <a:t>Самая прибыльная когорта – март 2023 г.</a:t>
            </a:r>
          </a:p>
          <a:p>
            <a:r>
              <a:rPr lang="ru-RU" dirty="0"/>
              <a:t>На втором месте – февраль 2023 г.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FB6F9C8E-6371-4BA0-A156-CE2BA16496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8903229"/>
              </p:ext>
            </p:extLst>
          </p:nvPr>
        </p:nvGraphicFramePr>
        <p:xfrm>
          <a:off x="134754" y="1448602"/>
          <a:ext cx="9820275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65460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F913F-9D70-4C05-ACE2-375EF1E1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031" y="396536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Анализ таргетированной рекламы в ноябре-декабре 2022 года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62BC465-038D-4F94-956F-EF1310E04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671" y="5291585"/>
            <a:ext cx="8596668" cy="883436"/>
          </a:xfrm>
        </p:spPr>
        <p:txBody>
          <a:bodyPr/>
          <a:lstStyle/>
          <a:p>
            <a:r>
              <a:rPr lang="ru-RU" dirty="0"/>
              <a:t>Более дорогая таргетированная реклама принесла более лояльных игроков</a:t>
            </a: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6BB2CCFF-E6C1-470A-9E8A-FBE63B3B9B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89236"/>
              </p:ext>
            </p:extLst>
          </p:nvPr>
        </p:nvGraphicFramePr>
        <p:xfrm>
          <a:off x="1021671" y="1992540"/>
          <a:ext cx="7838243" cy="3049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31542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D8EA43-DAC7-4FBA-A5F5-939465776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«</a:t>
            </a:r>
            <a:r>
              <a:rPr lang="ru-RU" dirty="0" err="1"/>
              <a:t>вирусности</a:t>
            </a:r>
            <a:r>
              <a:rPr lang="ru-RU" dirty="0"/>
              <a:t>»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95A43B-B2DF-4DBD-96F5-AAAA44CF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2270"/>
            <a:ext cx="8435802" cy="1112884"/>
          </a:xfrm>
          <a:ln>
            <a:solidFill>
              <a:schemeClr val="accent1">
                <a:lumMod val="50000"/>
              </a:schemeClr>
            </a:solidFill>
          </a:ln>
        </p:spPr>
        <p:txBody>
          <a:bodyPr/>
          <a:lstStyle/>
          <a:p>
            <a:r>
              <a:rPr lang="en-US" dirty="0"/>
              <a:t>K-factor – </a:t>
            </a:r>
            <a:r>
              <a:rPr lang="ru-RU" dirty="0"/>
              <a:t>0,92</a:t>
            </a:r>
          </a:p>
          <a:p>
            <a:r>
              <a:rPr lang="ru-RU" dirty="0"/>
              <a:t>«Ожидаемый» объем регистраций пользователей с учетом «</a:t>
            </a:r>
            <a:r>
              <a:rPr lang="ru-RU" dirty="0" err="1"/>
              <a:t>вирусности</a:t>
            </a:r>
            <a:r>
              <a:rPr lang="ru-RU" dirty="0"/>
              <a:t>» игры - 315</a:t>
            </a:r>
          </a:p>
        </p:txBody>
      </p:sp>
    </p:spTree>
    <p:extLst>
      <p:ext uri="{BB962C8B-B14F-4D97-AF65-F5344CB8AC3E}">
        <p14:creationId xmlns:p14="http://schemas.microsoft.com/office/powerpoint/2010/main" val="2186638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DECB7-AD09-4723-8090-5D666C01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Описание критериев лояльных пользователей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881A86-AE98-406F-9F62-7201382D6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61840"/>
            <a:ext cx="8270289" cy="1734320"/>
          </a:xfrm>
          <a:ln>
            <a:solidFill>
              <a:schemeClr val="accent1">
                <a:lumMod val="50000"/>
              </a:schemeClr>
            </a:solidFill>
          </a:ln>
        </p:spPr>
        <p:txBody>
          <a:bodyPr/>
          <a:lstStyle/>
          <a:p>
            <a:r>
              <a:rPr lang="ru-RU" dirty="0">
                <a:solidFill>
                  <a:srgbClr val="242D34"/>
                </a:solidFill>
                <a:latin typeface="StratosSkyeng"/>
              </a:rPr>
              <a:t>К</a:t>
            </a:r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ритерий </a:t>
            </a:r>
            <a:r>
              <a:rPr lang="en-US" b="1" i="1" dirty="0" err="1">
                <a:solidFill>
                  <a:srgbClr val="242D34"/>
                </a:solidFill>
                <a:effectLst/>
                <a:latin typeface="StratosSkyeng"/>
              </a:rPr>
              <a:t>crit_invite</a:t>
            </a:r>
            <a:r>
              <a:rPr lang="ru-RU" b="1" i="1" dirty="0">
                <a:solidFill>
                  <a:srgbClr val="242D34"/>
                </a:solidFill>
                <a:latin typeface="StratosSkyeng"/>
              </a:rPr>
              <a:t>: </a:t>
            </a:r>
            <a:r>
              <a:rPr lang="ru-RU" b="0" i="1" dirty="0">
                <a:solidFill>
                  <a:srgbClr val="242D34"/>
                </a:solidFill>
                <a:effectLst/>
                <a:latin typeface="StratosSkyeng"/>
              </a:rPr>
              <a:t>лояльным</a:t>
            </a:r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 считается тот пользователь, который пригласил как минимум троих друзей, из которых как минимум один в результате зарегистрировался в нашей игре.</a:t>
            </a:r>
            <a:endParaRPr lang="ru-RU" b="1" i="1" dirty="0">
              <a:solidFill>
                <a:srgbClr val="242D34"/>
              </a:solidFill>
              <a:latin typeface="StratosSkyeng"/>
            </a:endParaRPr>
          </a:p>
          <a:p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Критерий </a:t>
            </a:r>
            <a:r>
              <a:rPr lang="en-US" b="1" i="1" dirty="0">
                <a:solidFill>
                  <a:srgbClr val="242D34"/>
                </a:solidFill>
                <a:effectLst/>
                <a:latin typeface="StratosSkyeng"/>
              </a:rPr>
              <a:t>crit_1000</a:t>
            </a:r>
            <a:r>
              <a:rPr lang="ru-RU" b="1" i="1" dirty="0">
                <a:solidFill>
                  <a:srgbClr val="242D34"/>
                </a:solidFill>
                <a:effectLst/>
                <a:latin typeface="StratosSkyeng"/>
              </a:rPr>
              <a:t>: </a:t>
            </a:r>
            <a:r>
              <a:rPr lang="ru-RU" b="0" i="1" dirty="0">
                <a:solidFill>
                  <a:srgbClr val="242D34"/>
                </a:solidFill>
                <a:effectLst/>
                <a:latin typeface="StratosSkyeng"/>
              </a:rPr>
              <a:t>лояльным</a:t>
            </a:r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 считается тот пользователь, который заплатил суммарно больше 1000 рублей за всё время (не строго).</a:t>
            </a:r>
          </a:p>
        </p:txBody>
      </p:sp>
    </p:spTree>
    <p:extLst>
      <p:ext uri="{BB962C8B-B14F-4D97-AF65-F5344CB8AC3E}">
        <p14:creationId xmlns:p14="http://schemas.microsoft.com/office/powerpoint/2010/main" val="1969088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AE7DD-EE55-4128-B3B5-5CB3CD003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Динамика </a:t>
            </a:r>
            <a:r>
              <a:rPr lang="en-US" dirty="0"/>
              <a:t>LMAU </a:t>
            </a:r>
            <a:r>
              <a:rPr lang="ru-RU" dirty="0"/>
              <a:t>для критерия </a:t>
            </a:r>
            <a:r>
              <a:rPr lang="en-US" dirty="0" err="1"/>
              <a:t>crit_invite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AD6F53-E431-43DA-9C1D-77A5C53EE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398" y="5228948"/>
            <a:ext cx="8596668" cy="75027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С января 2023 увеличение лояльных пользователей</a:t>
            </a:r>
          </a:p>
          <a:p>
            <a:r>
              <a:rPr lang="ru-RU" dirty="0"/>
              <a:t>В марте 2023 г. пик лояльных активных пользователей - 532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496F0167-6A56-4D06-9062-DA41C231D4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6134082"/>
              </p:ext>
            </p:extLst>
          </p:nvPr>
        </p:nvGraphicFramePr>
        <p:xfrm>
          <a:off x="677334" y="1797843"/>
          <a:ext cx="8524875" cy="3262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67182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223855-E7D3-4391-B654-CC7F0EEB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Динамика </a:t>
            </a:r>
            <a:r>
              <a:rPr lang="en-US" dirty="0"/>
              <a:t>LMAU </a:t>
            </a:r>
            <a:r>
              <a:rPr lang="ru-RU" dirty="0"/>
              <a:t>для критерия </a:t>
            </a:r>
            <a:r>
              <a:rPr lang="en-US" dirty="0"/>
              <a:t>crit_1000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61E152-C34A-4DF0-9381-0EE73FD6E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276" y="5134639"/>
            <a:ext cx="8253602" cy="945579"/>
          </a:xfrm>
        </p:spPr>
        <p:txBody>
          <a:bodyPr/>
          <a:lstStyle/>
          <a:p>
            <a:r>
              <a:rPr lang="ru-RU" dirty="0"/>
              <a:t>Максимальное количество лояльных активных пользователей в марте 2023 г. – 230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E92DD2F9-6030-4EB3-BB3B-6C3E119F93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0206722"/>
              </p:ext>
            </p:extLst>
          </p:nvPr>
        </p:nvGraphicFramePr>
        <p:xfrm>
          <a:off x="677334" y="1762217"/>
          <a:ext cx="9057628" cy="3165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98297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AD2E2E-76FB-4459-9D4F-3B933B4A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Динамика </a:t>
            </a:r>
            <a:r>
              <a:rPr lang="en-US" dirty="0"/>
              <a:t>LMAU </a:t>
            </a:r>
            <a:r>
              <a:rPr lang="ru-RU" dirty="0"/>
              <a:t>для критериев </a:t>
            </a:r>
            <a:r>
              <a:rPr lang="en-US" dirty="0" err="1"/>
              <a:t>crit_invite</a:t>
            </a:r>
            <a:r>
              <a:rPr lang="ru-RU" dirty="0"/>
              <a:t> и </a:t>
            </a:r>
            <a:r>
              <a:rPr lang="en-US" dirty="0"/>
              <a:t>crit_1000</a:t>
            </a:r>
            <a:r>
              <a:rPr lang="ru-RU" dirty="0"/>
              <a:t>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11712D-E9EF-44F5-A8F3-5DB0EB7DB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113538"/>
            <a:ext cx="8596668" cy="927824"/>
          </a:xfrm>
        </p:spPr>
        <p:txBody>
          <a:bodyPr/>
          <a:lstStyle/>
          <a:p>
            <a:r>
              <a:rPr lang="ru-RU" dirty="0"/>
              <a:t>Максимальное количество лояльных активных пользователей в марте 2023 г. – 76</a:t>
            </a:r>
          </a:p>
          <a:p>
            <a:endParaRPr lang="ru-RU" dirty="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96569514-299D-46E8-8AA4-B449F1F733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5529607"/>
              </p:ext>
            </p:extLst>
          </p:nvPr>
        </p:nvGraphicFramePr>
        <p:xfrm>
          <a:off x="528243" y="1823969"/>
          <a:ext cx="7815263" cy="33861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01003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B2249-9329-4F45-92F6-3BB7E6EA6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Динамика </a:t>
            </a:r>
            <a:r>
              <a:rPr lang="en-US" dirty="0"/>
              <a:t>LMAU </a:t>
            </a:r>
            <a:r>
              <a:rPr lang="ru-RU" dirty="0"/>
              <a:t>для критериев </a:t>
            </a:r>
            <a:r>
              <a:rPr lang="en-US" dirty="0" err="1"/>
              <a:t>crit_invite</a:t>
            </a:r>
            <a:r>
              <a:rPr lang="ru-RU" dirty="0"/>
              <a:t> или </a:t>
            </a:r>
            <a:r>
              <a:rPr lang="en-US" dirty="0"/>
              <a:t>crit_1000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7023FF-59C8-48E4-B432-13314BE9B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522" y="5379869"/>
            <a:ext cx="8368480" cy="661494"/>
          </a:xfrm>
        </p:spPr>
        <p:txBody>
          <a:bodyPr/>
          <a:lstStyle/>
          <a:p>
            <a:r>
              <a:rPr lang="ru-RU" dirty="0"/>
              <a:t>Максимальное количество лояльных активных пользователей в марте 2023 г. – 686</a:t>
            </a:r>
          </a:p>
          <a:p>
            <a:endParaRPr lang="ru-RU" dirty="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3757AAB9-C227-4EFC-8B6B-46627C956C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4669250"/>
              </p:ext>
            </p:extLst>
          </p:nvPr>
        </p:nvGraphicFramePr>
        <p:xfrm>
          <a:off x="677334" y="1818651"/>
          <a:ext cx="8596668" cy="3410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40913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7DE90C-EA54-40B6-A8EF-8BC549473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Средние выплаты лояльных пользователей за 1 месяц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041EEA-DEA2-4719-8C45-2777C8100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8425"/>
            <a:ext cx="8435802" cy="1454181"/>
          </a:xfrm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>
                <a:solidFill>
                  <a:srgbClr val="242D34"/>
                </a:solidFill>
              </a:rPr>
              <a:t>Средние выплаты лояльных пользователей</a:t>
            </a:r>
            <a:r>
              <a:rPr lang="ru-RU" sz="2600" b="0" dirty="0">
                <a:solidFill>
                  <a:srgbClr val="242D34"/>
                </a:solidFill>
                <a:effectLst/>
              </a:rPr>
              <a:t>, которые входят в топ-100 по средним выплатам за один месяц своей жизни, варьируются от 870 до 5250.</a:t>
            </a:r>
            <a:endParaRPr lang="ru-RU" sz="26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583736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507</TotalTime>
  <Words>731</Words>
  <Application>Microsoft Office PowerPoint</Application>
  <PresentationFormat>Широкоэкранный</PresentationFormat>
  <Paragraphs>152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StratosSkyeng</vt:lpstr>
      <vt:lpstr>Trebuchet MS</vt:lpstr>
      <vt:lpstr>Wingdings 3</vt:lpstr>
      <vt:lpstr>Аспект</vt:lpstr>
      <vt:lpstr>Анализ игры Zombie Revolution, ее популярности и монетизации</vt:lpstr>
      <vt:lpstr>Основные метрики</vt:lpstr>
      <vt:lpstr>Динамика пользовательской базы</vt:lpstr>
      <vt:lpstr>Динамика игровых сессий</vt:lpstr>
      <vt:lpstr>Динамика средней длительности игровой сессии</vt:lpstr>
      <vt:lpstr>Динамика доли сессий более 1 часа среди всех сессий</vt:lpstr>
      <vt:lpstr>Анализ маркетинговой акции</vt:lpstr>
      <vt:lpstr>Анализ Sticky Factor Weekly, Sticky Factor Monthly</vt:lpstr>
      <vt:lpstr>Пользователи, которые получат бонусные кристаллы и золотые монеты </vt:lpstr>
      <vt:lpstr>Анализ проблемных записей</vt:lpstr>
      <vt:lpstr>Динамика клиентских выплат по месяцам по типам продукта</vt:lpstr>
      <vt:lpstr>Динамика выручки и среднего количества приобретаемых кристаллов на одну покупку</vt:lpstr>
      <vt:lpstr>Средняя выручка на одного человека за один месяц для каждой когорты</vt:lpstr>
      <vt:lpstr>Анализ таргетированной рекламы в ноябре-декабре 2022 года</vt:lpstr>
      <vt:lpstr>Анализ «вирусности» игры</vt:lpstr>
      <vt:lpstr>Описание критериев лояльных пользователей</vt:lpstr>
      <vt:lpstr>Динамика LMAU для критерия crit_invite</vt:lpstr>
      <vt:lpstr>Динамика LMAU для критерия crit_1000</vt:lpstr>
      <vt:lpstr>Динамика LMAU для критериев crit_invite и crit_1000 </vt:lpstr>
      <vt:lpstr>Динамика LMAU для критериев crit_invite или crit_1000</vt:lpstr>
      <vt:lpstr>Средние выплаты лояльных пользователей за 1 месяц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игры Zombie Revolution, ее популярности и монетизации</dc:title>
  <dc:creator>Беляева Ольга Николаевна</dc:creator>
  <cp:lastModifiedBy>Беляева Ольга Николаевна</cp:lastModifiedBy>
  <cp:revision>46</cp:revision>
  <dcterms:created xsi:type="dcterms:W3CDTF">2025-06-08T07:03:14Z</dcterms:created>
  <dcterms:modified xsi:type="dcterms:W3CDTF">2025-06-12T11:53:55Z</dcterms:modified>
</cp:coreProperties>
</file>